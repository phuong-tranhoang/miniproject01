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5"/>
    <p:sldId id="258" r:id="rId6"/>
    <p:sldId id="323" r:id="rId7"/>
    <p:sldId id="350" r:id="rId8"/>
    <p:sldId id="351" r:id="rId9"/>
    <p:sldId id="352" r:id="rId10"/>
    <p:sldId id="353" r:id="rId11"/>
    <p:sldId id="354" r:id="rId12"/>
    <p:sldId id="355" r:id="rId13"/>
    <p:sldId id="356" r:id="rId14"/>
    <p:sldId id="357" r:id="rId15"/>
    <p:sldId id="358" r:id="rId16"/>
    <p:sldId id="360" r:id="rId17"/>
    <p:sldId id="361" r:id="rId18"/>
    <p:sldId id="367" r:id="rId19"/>
    <p:sldId id="362" r:id="rId20"/>
    <p:sldId id="363" r:id="rId21"/>
    <p:sldId id="366" r:id="rId22"/>
    <p:sldId id="364" r:id="rId23"/>
    <p:sldId id="365" r:id="rId24"/>
  </p:sldIdLst>
  <p:sldSz cx="12192000" cy="6858000"/>
  <p:notesSz cx="6858000" cy="9144000"/>
  <p:embeddedFontLs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Lato" panose="020F0502020204030203" pitchFamily="34" charset="0"/>
      <p:regular r:id="rId31"/>
      <p:bold r:id="rId32"/>
      <p:italic r:id="rId33"/>
      <p:boldItalic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A185"/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655" autoAdjust="0"/>
  </p:normalViewPr>
  <p:slideViewPr>
    <p:cSldViewPr snapToGrid="0">
      <p:cViewPr varScale="1">
        <p:scale>
          <a:sx n="64" d="100"/>
          <a:sy n="64" d="100"/>
        </p:scale>
        <p:origin x="858" y="60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F0B69-3B00-08D4-2251-5D82304CD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6B822B-DF49-2B17-8950-8A219F9EF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379B7-00D1-64F9-F8D7-0714DC4D41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8F992-FD31-7DB1-041E-B0605E0F4F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2562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27DCA-DF92-E3F2-3741-B933C3E91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387A72-8C0C-4D91-933B-54015E1F72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B53EA-ED35-E490-01BD-595905B11B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0F00F-1E16-27F5-8EC3-2258F350ED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615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80F9A-7C21-0D00-FC03-4C18FB384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0A8E90-4A35-5E9A-5EE2-5CA3BC875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B9C415-B7EF-0030-6F71-DCDC348CC8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28E1C8-3003-5712-65AD-6ECDE5BFA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406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40CAE-9C78-0E21-6D39-459F9FD0A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BE33B5-98A9-B96A-D28D-B10D1A69E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9F990F-1C80-31C8-8347-BAC7CF0EE1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CD333-F9F7-8B53-E74E-CC9F507B15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171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562560-86FF-B621-015D-A8FD0C197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8FD1BD-6CD5-53FE-DB87-E0EB16757A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6C77E4-17A5-B1B1-5731-C20B8BA801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1A277-BB79-CBEF-A60F-A6FB86C1F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273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5AD3C-CF2D-FB61-FB0B-174C4EB65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D99778-6F6B-6BFA-05EE-D340C35AE8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F808C9-4A74-229B-D19D-C38970FA98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7E721-7DD2-AF84-2519-F45A34FC2B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9641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291CD-E2D0-333D-7791-62014ED90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FF2C9A-0B29-E54E-34AB-252643BAD8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44337E-D715-5BC8-3DA1-36E7566E7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EDBF4-6A02-53D7-EA31-81A2614A7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173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159E8-663F-079D-6028-658B3B774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1ADD5A-E38D-8727-1DA3-B4E2A4D474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D98ACA-1AEA-BB20-9EEC-0586E0021F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57046-4230-64F8-1B54-203459B3B6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052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91ED7-9DC7-0EA1-2E0C-6FB8F369E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D76F8-9A20-3A5D-E4EA-C40D80A9D2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472DFA-157E-F1C3-8CEB-28FFF9545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078DC-E54B-27A9-F26F-79B654B540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04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3ED84-8D70-3083-C9EB-3C1E81F62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C94D94-5173-E698-4A27-3CF36BDA5B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54375A-B4E6-3C66-3ADD-DDF22DF328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A7C90-29F1-434C-ECDF-143036E194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8536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B7125-1B0B-D407-A03A-5701A531B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5A5AF-3156-76EE-1C63-3E1BF64396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DC53AE-B9E1-E039-851B-30A106321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E7D1E-C9A3-3FD6-C3C1-8D9CF1213F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6324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FDC81-F6B4-3D5F-20DA-5DE0003A1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3DD7A-FFA0-6545-9A3C-D68FB0FEE0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529F75-B082-79AE-1962-3F4D5FEF00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434EE-4201-B8DC-7A3B-97D6C142E3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82583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EBECC-85C8-0CA8-BC5E-F62EBB732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0EB148-5579-CA2C-6769-8626EF1D00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65A37F-C90B-52BC-439D-27A612F98F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1AC95-96E3-172F-6A1B-8F1DE99885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6520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E8279-7702-ED12-162B-D2AD904F1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B413C2-7C5F-7D82-5D02-30D10CC7C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531B65-3206-7711-E19D-D4A2640B4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3C21E-DDA8-3E8E-CF34-F34ADD343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1154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849F9-DB13-1728-0657-341B6B89F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8198E4-2D24-D0E3-0EC6-8FE3254C32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66FF9E-A39B-C2C4-3A28-581DFE0F6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A45D33-DE7B-AD67-DE49-E65FB7D8B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4393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A5822-BB2D-4B3F-BD0C-8E000C04B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66110B-979E-F2B7-488F-2327BB919C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6602A-8E78-47BB-63D2-00C83131D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FA215-ACF4-A3EF-3909-7B9D4EACA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1405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85622-5576-C9DC-060E-DC3B3F5BC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E99A99-61AD-0CED-9487-F5E4251AF3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BD6E54-3708-02D8-EC88-248E26096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947BD-8FCC-44BB-FFDF-47A22FD27D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5394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24227-7D56-F4BA-AEE4-B1782AF28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C5E302-4974-2A0D-F3AC-9CF0E46E1C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7C05BB-5A10-BCED-BF0A-D637A4E14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064141-9910-342D-FCF1-122B0EE0A3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726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00854" y="182880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 rot="16200000">
            <a:off x="-1809778" y="1129554"/>
            <a:ext cx="7745506" cy="412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9861704">
            <a:off x="10278846" y="158042"/>
            <a:ext cx="2550901" cy="6675034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Lato" panose="020F0502020204030203" pitchFamily="34" charset="0"/>
              </a:defRPr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Lato" panose="020F050202020403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ato" panose="020F050202020403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1145" y="2856155"/>
            <a:ext cx="8166966" cy="1145689"/>
          </a:xfrm>
        </p:spPr>
        <p:txBody>
          <a:bodyPr anchor="ctr"/>
          <a:lstStyle/>
          <a:p>
            <a:pPr algn="ctr"/>
            <a:r>
              <a:rPr lang="en-US" sz="5000" b="1" dirty="0">
                <a:ea typeface="Calibri" panose="020F0502020204030204" pitchFamily="34" charset="0"/>
                <a:cs typeface="Calibri" panose="020F0502020204030204" pitchFamily="34" charset="0"/>
              </a:rPr>
              <a:t>Mini project 01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0F147FF-489D-9F1D-B942-55BD29C8EB6E}"/>
              </a:ext>
            </a:extLst>
          </p:cNvPr>
          <p:cNvSpPr txBox="1">
            <a:spLocks/>
          </p:cNvSpPr>
          <p:nvPr/>
        </p:nvSpPr>
        <p:spPr>
          <a:xfrm>
            <a:off x="4532438" y="114749"/>
            <a:ext cx="6348924" cy="11456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i="1" cap="none" dirty="0">
                <a:latin typeface="Lato" panose="020F050202020403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C/C++ Training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2EA3FEF-BABE-33C3-6803-635223E2BE0D}"/>
              </a:ext>
            </a:extLst>
          </p:cNvPr>
          <p:cNvSpPr txBox="1">
            <a:spLocks/>
          </p:cNvSpPr>
          <p:nvPr/>
        </p:nvSpPr>
        <p:spPr>
          <a:xfrm>
            <a:off x="4532438" y="5484607"/>
            <a:ext cx="6348924" cy="114568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i="1" cap="none" dirty="0">
                <a:latin typeface="Lato" panose="020F050202020403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HN25_FR_EMB_03</a:t>
            </a:r>
          </a:p>
          <a:p>
            <a:pPr algn="ctr"/>
            <a:r>
              <a:rPr lang="en-US" sz="2000" i="1" cap="none" dirty="0" err="1">
                <a:latin typeface="Lato" panose="020F050202020403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Trần</a:t>
            </a:r>
            <a:r>
              <a:rPr lang="en-US" sz="2000" i="1" cap="none" dirty="0">
                <a:latin typeface="Lato" panose="020F0502020204030203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Hoàng Phương – PhuongTH33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18" y="1847654"/>
            <a:ext cx="8170474" cy="54188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Building the Core Engine for an Automotive Music Player Application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232F9-FD00-464A-9F17-619C91AEF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2388" y="2763078"/>
            <a:ext cx="8255246" cy="340705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Goal: Backend components for a music player application with efficient, flexible, and scalable system</a:t>
            </a:r>
          </a:p>
          <a:p>
            <a:endParaRPr lang="en-US" dirty="0"/>
          </a:p>
          <a:p>
            <a:r>
              <a:rPr lang="en-US" dirty="0"/>
              <a:t>Context:</a:t>
            </a:r>
          </a:p>
          <a:p>
            <a:pPr lvl="1"/>
            <a:r>
              <a:rPr lang="en-US" dirty="0"/>
              <a:t>Large music library (tens of thousands of songs)</a:t>
            </a:r>
          </a:p>
          <a:p>
            <a:pPr lvl="1"/>
            <a:r>
              <a:rPr lang="en-US" dirty="0"/>
              <a:t>Fast searches</a:t>
            </a:r>
          </a:p>
          <a:p>
            <a:pPr lvl="1"/>
            <a:r>
              <a:rPr lang="en-US" dirty="0"/>
              <a:t>Create and control playlists (playback queues)</a:t>
            </a:r>
          </a:p>
          <a:p>
            <a:pPr lvl="1"/>
            <a:r>
              <a:rPr lang="en-US" dirty="0"/>
              <a:t>Listening history</a:t>
            </a:r>
          </a:p>
          <a:p>
            <a:pPr lvl="1"/>
            <a:r>
              <a:rPr lang="en-US" dirty="0"/>
              <a:t>Smart features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CE635A2-70B8-3EAB-6A18-952B02EBA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D9C8C-2CB7-9F5B-A08B-90836E423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FA21479-7DE3-2DA2-C3DA-3FA9D4866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A4843DE-2D53-1F95-D1D1-9171D393C598}"/>
              </a:ext>
            </a:extLst>
          </p:cNvPr>
          <p:cNvSpPr txBox="1">
            <a:spLocks/>
          </p:cNvSpPr>
          <p:nvPr/>
        </p:nvSpPr>
        <p:spPr>
          <a:xfrm>
            <a:off x="2451859" y="176980"/>
            <a:ext cx="7288282" cy="5675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Part 1: Music Library </a:t>
            </a:r>
            <a:r>
              <a:rPr lang="en-US" sz="2400" b="1" dirty="0" err="1"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 Playback Queue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C27D79-8290-5F6E-A3C3-DF8EAB68BA47}"/>
              </a:ext>
            </a:extLst>
          </p:cNvPr>
          <p:cNvSpPr txBox="1"/>
          <p:nvPr/>
        </p:nvSpPr>
        <p:spPr>
          <a:xfrm>
            <a:off x="685802" y="926810"/>
            <a:ext cx="10382248" cy="908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14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Đây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là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2 class có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mục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đích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chứa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database (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thư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viện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hát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queue (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hàng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chờ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),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với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các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method.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Owner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vs. 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Observer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pattern: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MusicLibrary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là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sz="16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Owner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chứa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database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là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struct Song)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còn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PlaybackQueue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cũng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như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tất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cả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các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container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sau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này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sử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dụng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là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b="1" i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Observer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chứa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con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trỏ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const Song*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tới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hát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trong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database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51C69C-B436-D77E-D88D-ED296A87AFF8}"/>
              </a:ext>
            </a:extLst>
          </p:cNvPr>
          <p:cNvSpPr txBox="1"/>
          <p:nvPr/>
        </p:nvSpPr>
        <p:spPr>
          <a:xfrm>
            <a:off x="685802" y="2017112"/>
            <a:ext cx="10004194" cy="2873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Song struct: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gồm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title, artist, album,...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được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cấp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phát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1 unique ID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mỗi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song</a:t>
            </a:r>
            <a:endParaRPr lang="en-US" sz="1600" b="1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endParaRPr lang="en-US" sz="1600" b="1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MusicLibrary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sử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dụng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vector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Không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cần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sắp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xếp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lại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hoặc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insert/delete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giữa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Chỉ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cần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push back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Không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expand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quá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liên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tục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được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load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startup)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Truy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cập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nhanh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nhờ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index – O(1),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dễ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add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hát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queue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nhờ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index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b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PlaybackQueue</a:t>
            </a:r>
            <a:r>
              <a:rPr lang="en-US" sz="16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sử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dụng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list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Thường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xuyên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insert/delete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đầu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/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giữa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/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cuối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/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dịch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chuyển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thứ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tự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các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item,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nhanh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hơn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vector – O(n)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hát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được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phát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sẽ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được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pop front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khỏi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list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937F4C-E455-6DCA-F06A-C0A6D2B07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800" y="5266047"/>
            <a:ext cx="3373819" cy="10671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29AA1B-4D6D-7EAE-9A12-DF9F264BD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7610" y="5266047"/>
            <a:ext cx="4425740" cy="10671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26635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65607-7EE5-88A9-3E0F-3BACB3BF2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62FB06A-F166-1C31-F10A-C1B5D4A47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B91786-98E9-81DA-B298-E2F862B7AC77}"/>
              </a:ext>
            </a:extLst>
          </p:cNvPr>
          <p:cNvSpPr txBox="1"/>
          <p:nvPr/>
        </p:nvSpPr>
        <p:spPr>
          <a:xfrm>
            <a:off x="685802" y="1215824"/>
            <a:ext cx="10004194" cy="346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Music Library: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Một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số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method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cơ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bản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trong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class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19AFC4-2976-9882-5FA2-7D5812ADA7C6}"/>
              </a:ext>
            </a:extLst>
          </p:cNvPr>
          <p:cNvSpPr txBox="1">
            <a:spLocks/>
          </p:cNvSpPr>
          <p:nvPr/>
        </p:nvSpPr>
        <p:spPr>
          <a:xfrm>
            <a:off x="2451859" y="176980"/>
            <a:ext cx="7288282" cy="5675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Part 1: Music Library </a:t>
            </a:r>
            <a:r>
              <a:rPr lang="en-US" sz="2400" b="1" dirty="0" err="1"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 Playback Queue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74B0C4-B0E7-634F-D37A-7412F7A00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812" y="1823956"/>
            <a:ext cx="5801535" cy="10097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AEFD66-03B8-FB54-536A-C0793923A2B1}"/>
              </a:ext>
            </a:extLst>
          </p:cNvPr>
          <p:cNvSpPr txBox="1"/>
          <p:nvPr/>
        </p:nvSpPr>
        <p:spPr>
          <a:xfrm>
            <a:off x="6830467" y="2155534"/>
            <a:ext cx="3542883" cy="346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Reserve 1000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hát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construct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2B5A20-91D2-9F46-64E3-DCCD68A75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813" y="3429001"/>
            <a:ext cx="5787178" cy="2283642"/>
          </a:xfrm>
          <a:prstGeom prst="roundRect">
            <a:avLst>
              <a:gd name="adj" fmla="val 4656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94C1EBE-343B-44E4-9D44-7AF07846D0F3}"/>
              </a:ext>
            </a:extLst>
          </p:cNvPr>
          <p:cNvSpPr txBox="1"/>
          <p:nvPr/>
        </p:nvSpPr>
        <p:spPr>
          <a:xfrm>
            <a:off x="6830467" y="4362273"/>
            <a:ext cx="4494720" cy="346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Thêm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hát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thư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viện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check reallocation</a:t>
            </a:r>
          </a:p>
        </p:txBody>
      </p:sp>
    </p:spTree>
    <p:extLst>
      <p:ext uri="{BB962C8B-B14F-4D97-AF65-F5344CB8AC3E}">
        <p14:creationId xmlns:p14="http://schemas.microsoft.com/office/powerpoint/2010/main" val="30591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69584-DD0E-D3D7-73CA-33135A4D8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806D55A-E4DD-8FE6-C194-77FB18CE7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86F486-D8B9-C64D-0BFA-74F1FA957CAB}"/>
              </a:ext>
            </a:extLst>
          </p:cNvPr>
          <p:cNvSpPr txBox="1"/>
          <p:nvPr/>
        </p:nvSpPr>
        <p:spPr>
          <a:xfrm>
            <a:off x="685802" y="832787"/>
            <a:ext cx="10004194" cy="346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Playback Queue: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Một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số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method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cơ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bản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trong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class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F35952-ECFD-7D55-4F04-B6B18363E571}"/>
              </a:ext>
            </a:extLst>
          </p:cNvPr>
          <p:cNvSpPr txBox="1">
            <a:spLocks/>
          </p:cNvSpPr>
          <p:nvPr/>
        </p:nvSpPr>
        <p:spPr>
          <a:xfrm>
            <a:off x="2451859" y="176980"/>
            <a:ext cx="7288282" cy="5675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Part 1: Music Library </a:t>
            </a:r>
            <a:r>
              <a:rPr lang="en-US" sz="2400" b="1" dirty="0" err="1"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 Playback Queue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57CD2E-1B67-0E8C-5E9F-5DFEC19C4224}"/>
              </a:ext>
            </a:extLst>
          </p:cNvPr>
          <p:cNvSpPr txBox="1"/>
          <p:nvPr/>
        </p:nvSpPr>
        <p:spPr>
          <a:xfrm>
            <a:off x="7492781" y="1342296"/>
            <a:ext cx="3542883" cy="346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Thêm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hát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FF08DF-165E-9CE5-9FB7-CCAD33E4DD28}"/>
              </a:ext>
            </a:extLst>
          </p:cNvPr>
          <p:cNvSpPr txBox="1"/>
          <p:nvPr/>
        </p:nvSpPr>
        <p:spPr>
          <a:xfrm>
            <a:off x="7492781" y="1851805"/>
            <a:ext cx="4494720" cy="346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Xóa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hát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O(n)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C293B6-736B-4D95-FCA0-44AFB9768C5B}"/>
              </a:ext>
            </a:extLst>
          </p:cNvPr>
          <p:cNvSpPr txBox="1"/>
          <p:nvPr/>
        </p:nvSpPr>
        <p:spPr>
          <a:xfrm>
            <a:off x="7492781" y="2679402"/>
            <a:ext cx="4494720" cy="346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Clear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hàng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chờ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O(n)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717AC80-2DFB-C9F4-C616-93C8DE42A1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852"/>
          <a:stretch>
            <a:fillRect/>
          </a:stretch>
        </p:blipFill>
        <p:spPr>
          <a:xfrm>
            <a:off x="1225051" y="4297118"/>
            <a:ext cx="4734612" cy="1822471"/>
          </a:xfrm>
          <a:prstGeom prst="roundRect">
            <a:avLst>
              <a:gd name="adj" fmla="val 4481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00F3953-A0AE-B43C-F61F-7672C25EE3FE}"/>
              </a:ext>
            </a:extLst>
          </p:cNvPr>
          <p:cNvSpPr txBox="1"/>
          <p:nvPr/>
        </p:nvSpPr>
        <p:spPr>
          <a:xfrm>
            <a:off x="6096000" y="4372897"/>
            <a:ext cx="5241417" cy="346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Lấy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hát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tiếp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(item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đầu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tiên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xóa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item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đó</a:t>
            </a: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3B2209-9317-664E-9A0D-BAB29A287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051" y="1193244"/>
            <a:ext cx="6178635" cy="2669031"/>
          </a:xfrm>
          <a:prstGeom prst="roundRect">
            <a:avLst>
              <a:gd name="adj" fmla="val 466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663609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8C3C5-1C98-D6AE-7E07-C97F3B1BB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D465120-8F59-22DF-25C6-99389FF7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CDE477-08DB-847E-878C-12E2E4EA04E9}"/>
              </a:ext>
            </a:extLst>
          </p:cNvPr>
          <p:cNvSpPr txBox="1"/>
          <p:nvPr/>
        </p:nvSpPr>
        <p:spPr>
          <a:xfrm>
            <a:off x="685802" y="832787"/>
            <a:ext cx="10004194" cy="346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Playback Queue: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Một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số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method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cơ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bản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trong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class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51F302-2983-66F5-6440-5DE1D6DC9005}"/>
              </a:ext>
            </a:extLst>
          </p:cNvPr>
          <p:cNvSpPr txBox="1">
            <a:spLocks/>
          </p:cNvSpPr>
          <p:nvPr/>
        </p:nvSpPr>
        <p:spPr>
          <a:xfrm>
            <a:off x="2451859" y="176980"/>
            <a:ext cx="7288282" cy="56759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Part 1: Music Library </a:t>
            </a:r>
            <a:r>
              <a:rPr lang="en-US" sz="2400" b="1" dirty="0" err="1"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 Playback Queue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F6B0AB-930D-B951-B2FC-D04E6C0CAB90}"/>
              </a:ext>
            </a:extLst>
          </p:cNvPr>
          <p:cNvSpPr txBox="1"/>
          <p:nvPr/>
        </p:nvSpPr>
        <p:spPr>
          <a:xfrm>
            <a:off x="7968699" y="1794783"/>
            <a:ext cx="3542883" cy="346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Thêm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album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queue 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658C708-72E0-D36E-AE6F-B7041F5A3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18" y="1674948"/>
            <a:ext cx="7163437" cy="2674703"/>
          </a:xfrm>
          <a:prstGeom prst="roundRect">
            <a:avLst>
              <a:gd name="adj" fmla="val 2429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C0FAFB-270B-8A96-D6CC-76C038F379E2}"/>
              </a:ext>
            </a:extLst>
          </p:cNvPr>
          <p:cNvSpPr txBox="1"/>
          <p:nvPr/>
        </p:nvSpPr>
        <p:spPr>
          <a:xfrm>
            <a:off x="5047961" y="2694660"/>
            <a:ext cx="3542883" cy="314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400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Double-check pointer </a:t>
            </a:r>
            <a:r>
              <a:rPr lang="en-US" sz="1400" dirty="0" err="1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hợp</a:t>
            </a:r>
            <a:r>
              <a:rPr lang="en-US" sz="1400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lệ</a:t>
            </a:r>
            <a:endParaRPr lang="en-US" sz="1400" dirty="0">
              <a:solidFill>
                <a:srgbClr val="FF000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6289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7572C-B5CB-643A-F940-0F283CBBB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9A0146F-67C3-D3D0-DFA4-17E278D06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C30F1A-47C3-5931-7498-A3C2F712EAE9}"/>
              </a:ext>
            </a:extLst>
          </p:cNvPr>
          <p:cNvSpPr txBox="1"/>
          <p:nvPr/>
        </p:nvSpPr>
        <p:spPr>
          <a:xfrm>
            <a:off x="685802" y="725583"/>
            <a:ext cx="10805472" cy="908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14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Sử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dụng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map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unordered map (map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khi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cần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lưu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đúng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thứ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tự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-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dễ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sort; unordered map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khi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không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cần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thứ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tự</a:t>
            </a:r>
            <a:r>
              <a:rPr lang="en-US" sz="16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 algn="just">
              <a:lnSpc>
                <a:spcPct val="114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Nằm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trong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class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MusicLibrary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phục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vụ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việc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tìm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kiếm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hiển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thị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thứ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tự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title)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của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database.</a:t>
            </a:r>
          </a:p>
          <a:p>
            <a:pPr marL="285750" indent="-285750" algn="just">
              <a:lnSpc>
                <a:spcPct val="114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Mỗi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thêm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library 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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cập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nhật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map</a:t>
            </a:r>
            <a:endParaRPr lang="en-US" sz="16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CEF7C5-A02D-F564-A660-630D6CF17F55}"/>
              </a:ext>
            </a:extLst>
          </p:cNvPr>
          <p:cNvSpPr txBox="1"/>
          <p:nvPr/>
        </p:nvSpPr>
        <p:spPr>
          <a:xfrm>
            <a:off x="685802" y="1761257"/>
            <a:ext cx="10004194" cy="3715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Search by ID: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unordered_map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(hash map)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Key: ID 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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Value: Song* 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Không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cần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sắp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xếp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không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quan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trọng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thứ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tự</a:t>
            </a: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Tìm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kiếm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nhanh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O(1)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Search by Title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map (self-balancing BST)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Key: title 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 Value: Song*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Tìm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kiếm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dùng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để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sort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A-Z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Search by Artist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unordered_map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(hash map)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Key: artist 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 Value: vector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chứa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Song*</a:t>
            </a:r>
          </a:p>
          <a:p>
            <a:pPr algn="just">
              <a:lnSpc>
                <a:spcPct val="114000"/>
              </a:lnSpc>
              <a:buClr>
                <a:prstClr val="black"/>
              </a:buClr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Không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cần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sắp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xếp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không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quan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trọng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thứ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tự</a:t>
            </a: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algn="just">
              <a:lnSpc>
                <a:spcPct val="114000"/>
              </a:lnSpc>
              <a:buClr>
                <a:prstClr val="black"/>
              </a:buClr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Tìm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kiếm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nhanh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O(1)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B020BE-078B-4693-A532-ECFCEF148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945" y="1786720"/>
            <a:ext cx="4213821" cy="3589243"/>
          </a:xfrm>
          <a:prstGeom prst="roundRect">
            <a:avLst>
              <a:gd name="adj" fmla="val 316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78AFF45-EF75-9DDE-7336-80F80943A28A}"/>
              </a:ext>
            </a:extLst>
          </p:cNvPr>
          <p:cNvSpPr/>
          <p:nvPr/>
        </p:nvSpPr>
        <p:spPr>
          <a:xfrm>
            <a:off x="5599522" y="4304417"/>
            <a:ext cx="3563332" cy="66930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70C597-1AFC-C2B1-463C-6241C10BA6EF}"/>
              </a:ext>
            </a:extLst>
          </p:cNvPr>
          <p:cNvSpPr txBox="1"/>
          <p:nvPr/>
        </p:nvSpPr>
        <p:spPr>
          <a:xfrm>
            <a:off x="685802" y="5604111"/>
            <a:ext cx="10268144" cy="9080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14000"/>
              </a:lnSpc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Map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trả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về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value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là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Song*, do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MusicLibrary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reserve 1000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không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expand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liên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tục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nên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không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lo reallocate</a:t>
            </a:r>
          </a:p>
          <a:p>
            <a:pPr marL="285750" indent="-285750" algn="just">
              <a:lnSpc>
                <a:spcPct val="114000"/>
              </a:lnSpc>
              <a:buClr>
                <a:prstClr val="black"/>
              </a:buClr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Trong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trường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hợp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MusicLibrary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expand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nhiều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dễ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reallocate (con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trỏ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invalid), map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cần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trả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về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index (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của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hát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trong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vector),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từ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index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truy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thêm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1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lần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để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lấy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Song*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tương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ứng</a:t>
            </a: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CFA22C8-5531-F211-E460-758FF15E8E6E}"/>
              </a:ext>
            </a:extLst>
          </p:cNvPr>
          <p:cNvSpPr txBox="1">
            <a:spLocks/>
          </p:cNvSpPr>
          <p:nvPr/>
        </p:nvSpPr>
        <p:spPr>
          <a:xfrm>
            <a:off x="2451859" y="176980"/>
            <a:ext cx="7288282" cy="5675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Part 2: Search </a:t>
            </a:r>
            <a:r>
              <a:rPr lang="en-US" sz="2400" b="1" dirty="0" err="1"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 METADATA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739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09A5A-C48C-3F2F-B971-57A4B41D6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E8F61A5-135A-92EE-7336-5DBACC076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A903CF-6D44-AE2A-AF0E-E3D7E63BBECE}"/>
              </a:ext>
            </a:extLst>
          </p:cNvPr>
          <p:cNvSpPr txBox="1"/>
          <p:nvPr/>
        </p:nvSpPr>
        <p:spPr>
          <a:xfrm>
            <a:off x="544399" y="2325259"/>
            <a:ext cx="10004194" cy="280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2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Search by ID: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unordered_map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(hash map)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Key: ID 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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Value: Song* 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Không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cần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sắp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xếp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không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quan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trọng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thứ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tự</a:t>
            </a:r>
            <a:endParaRPr lang="en-US" sz="12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Tìm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kiếm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nhanh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O(1)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endParaRPr lang="en-US" sz="12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2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Search by Title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map (self-balancing BST)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Key: title 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 Value: Song*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Tìm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kiếm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dùng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để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sort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theo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A-Z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endParaRPr lang="en-US" sz="12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2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Search by Artist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unordered_map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(hash map)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Key: artist 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 Value: vector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chứa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Song*</a:t>
            </a:r>
          </a:p>
          <a:p>
            <a:pPr algn="just">
              <a:lnSpc>
                <a:spcPct val="114000"/>
              </a:lnSpc>
              <a:buClr>
                <a:prstClr val="black"/>
              </a:buClr>
              <a:defRPr/>
            </a:pP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Không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cần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sắp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xếp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không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quan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trọng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thứ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tự</a:t>
            </a:r>
            <a:endParaRPr lang="en-US" sz="12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algn="just">
              <a:lnSpc>
                <a:spcPct val="114000"/>
              </a:lnSpc>
              <a:buClr>
                <a:prstClr val="black"/>
              </a:buClr>
              <a:defRPr/>
            </a:pP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- Tìm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kiếm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2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nhanh</a:t>
            </a:r>
            <a:r>
              <a:rPr lang="en-US" sz="12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O(1)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212A52-3517-D5A8-9338-3544A7172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195" y="1480166"/>
            <a:ext cx="6485641" cy="4876183"/>
          </a:xfrm>
          <a:prstGeom prst="roundRect">
            <a:avLst>
              <a:gd name="adj" fmla="val 3061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A86C00D-983E-0D46-E178-94A11122D05E}"/>
              </a:ext>
            </a:extLst>
          </p:cNvPr>
          <p:cNvSpPr txBox="1"/>
          <p:nvPr/>
        </p:nvSpPr>
        <p:spPr>
          <a:xfrm>
            <a:off x="4180497" y="977197"/>
            <a:ext cx="6703035" cy="378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  <a:buClr>
                <a:prstClr val="black"/>
              </a:buClr>
              <a:defRPr/>
            </a:pPr>
            <a:r>
              <a:rPr lang="en-US" sz="1800" i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Các </a:t>
            </a:r>
            <a:r>
              <a:rPr lang="en-US" sz="1800" i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hàm</a:t>
            </a:r>
            <a:r>
              <a:rPr lang="en-US" sz="1800" i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i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tìm</a:t>
            </a:r>
            <a:r>
              <a:rPr lang="en-US" sz="1800" i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i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kiếm</a:t>
            </a:r>
            <a:r>
              <a:rPr lang="en-US" sz="1800" i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800" i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của</a:t>
            </a:r>
            <a:r>
              <a:rPr lang="en-US" sz="1800" i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map: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885FFA68-6580-EC95-C858-6200E34BFE2C}"/>
              </a:ext>
            </a:extLst>
          </p:cNvPr>
          <p:cNvSpPr txBox="1">
            <a:spLocks/>
          </p:cNvSpPr>
          <p:nvPr/>
        </p:nvSpPr>
        <p:spPr>
          <a:xfrm>
            <a:off x="2451859" y="176980"/>
            <a:ext cx="7288282" cy="5675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Part 2: Search </a:t>
            </a:r>
            <a:r>
              <a:rPr lang="en-US" sz="2400" b="1" dirty="0" err="1"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 METADATA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143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B5AB0-C188-2472-A5AF-E5D5CA53C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8D71DA9-AA94-9865-B2E3-25D6C65C8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EAA466D-5970-DC94-871B-2807FD13F6A4}"/>
              </a:ext>
            </a:extLst>
          </p:cNvPr>
          <p:cNvSpPr txBox="1">
            <a:spLocks/>
          </p:cNvSpPr>
          <p:nvPr/>
        </p:nvSpPr>
        <p:spPr>
          <a:xfrm>
            <a:off x="2451859" y="176980"/>
            <a:ext cx="7288282" cy="5675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Part 3: stack, queue </a:t>
            </a:r>
            <a:r>
              <a:rPr lang="en-US" sz="2400" b="1" dirty="0" err="1"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 set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53A82C-EFE9-CC3D-2365-040AC54C3F6C}"/>
              </a:ext>
            </a:extLst>
          </p:cNvPr>
          <p:cNvSpPr txBox="1"/>
          <p:nvPr/>
        </p:nvSpPr>
        <p:spPr>
          <a:xfrm>
            <a:off x="685802" y="891689"/>
            <a:ext cx="10004194" cy="17502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 std::stack – Playback History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Tuân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quy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tắc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LIFO: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phù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hợp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cơ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chế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xem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lịch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sử</a:t>
            </a: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Khi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hát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kết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thúc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hoặc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chơi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tiếp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):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hát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cũ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được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push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stack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Khi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cần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playPrevious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lần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lượt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pop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các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hát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cũ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phát</a:t>
            </a: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Không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có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nhu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cầu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access item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khác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của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history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mà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chỉ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cần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quan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tâm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tới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item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đầu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tiên</a:t>
            </a: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 Trong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trường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hợp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này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ta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dùng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stack,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tuy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nhiên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trong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thực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tế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nên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dùng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vector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hoặc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list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bởi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tính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đa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dụng</a:t>
            </a: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9A615B-EC23-09C8-1B3E-15420DC3F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1451" y="961310"/>
            <a:ext cx="2937380" cy="6930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FD02024-B973-BC9F-2FE4-35C38D0F86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9810" y="2728442"/>
            <a:ext cx="4046017" cy="17121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77A63F-0F22-69E2-392B-75AA8EFDA3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9811" y="4596563"/>
            <a:ext cx="4453372" cy="72015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53A9D99-0D2B-4EF6-12D5-420DB2FE080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397"/>
          <a:stretch>
            <a:fillRect/>
          </a:stretch>
        </p:blipFill>
        <p:spPr>
          <a:xfrm>
            <a:off x="1449810" y="5472716"/>
            <a:ext cx="3148699" cy="116137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D53DAEC-9196-F802-28E0-02C2E08F3658}"/>
              </a:ext>
            </a:extLst>
          </p:cNvPr>
          <p:cNvSpPr txBox="1"/>
          <p:nvPr/>
        </p:nvSpPr>
        <p:spPr>
          <a:xfrm>
            <a:off x="6312451" y="2789024"/>
            <a:ext cx="4469833" cy="346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Lấy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hát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mới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được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chơi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pop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khỏi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stack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75168B-83C8-50D2-DEE7-B3D56324DF52}"/>
              </a:ext>
            </a:extLst>
          </p:cNvPr>
          <p:cNvSpPr txBox="1"/>
          <p:nvPr/>
        </p:nvSpPr>
        <p:spPr>
          <a:xfrm>
            <a:off x="6312451" y="4701775"/>
            <a:ext cx="4963609" cy="346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Thêm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hát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stack (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các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API ở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trên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sẽ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gọi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xuống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6D6338-9A37-C4A3-DEF7-16C251DC8E33}"/>
              </a:ext>
            </a:extLst>
          </p:cNvPr>
          <p:cNvSpPr txBox="1"/>
          <p:nvPr/>
        </p:nvSpPr>
        <p:spPr>
          <a:xfrm>
            <a:off x="6312451" y="6009716"/>
            <a:ext cx="4469833" cy="346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Xóa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lịch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sử</a:t>
            </a: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021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6E776-DA32-D9C9-6112-A6A136990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B0D1D49-7933-D096-113A-AE4457136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7D6075A-C112-17B6-510E-6251AA0C578A}"/>
              </a:ext>
            </a:extLst>
          </p:cNvPr>
          <p:cNvSpPr txBox="1">
            <a:spLocks/>
          </p:cNvSpPr>
          <p:nvPr/>
        </p:nvSpPr>
        <p:spPr>
          <a:xfrm>
            <a:off x="2451859" y="176980"/>
            <a:ext cx="7288282" cy="5675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Part 3: stack, queue </a:t>
            </a:r>
            <a:r>
              <a:rPr lang="en-US" sz="2400" b="1" dirty="0" err="1"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 set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B428E5-8E93-5415-139C-610C3AD1AB18}"/>
              </a:ext>
            </a:extLst>
          </p:cNvPr>
          <p:cNvSpPr txBox="1"/>
          <p:nvPr/>
        </p:nvSpPr>
        <p:spPr>
          <a:xfrm>
            <a:off x="685802" y="1146213"/>
            <a:ext cx="10475534" cy="17527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2. std::queue – có </a:t>
            </a:r>
            <a:r>
              <a:rPr lang="en-US" sz="1600" b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thể</a:t>
            </a:r>
            <a:r>
              <a:rPr lang="en-US" sz="16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b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dùng</a:t>
            </a:r>
            <a:r>
              <a:rPr lang="en-US" sz="16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b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cho</a:t>
            </a:r>
            <a:r>
              <a:rPr lang="en-US" sz="16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playback queue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Tuân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quy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tắc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FIFO: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phù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hợp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cơ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chế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hàng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chờ</a:t>
            </a: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hát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được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trước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(push)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sẽ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được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chơi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trước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(pop)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Tuy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nhiên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queue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bị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giới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hạn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bởi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chỉ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truy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cập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được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1 item ở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đầu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không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thể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insert/delete/traverse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tới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item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ngẫu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nhiên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trong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hàng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chờ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 Ta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sử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dụng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list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cho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playback queue (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như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đã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nói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ở part 1)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45A325-12C8-3E6F-B582-F48DB0DF0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4474" y="3429000"/>
            <a:ext cx="4043051" cy="3178811"/>
          </a:xfrm>
          <a:prstGeom prst="roundRect">
            <a:avLst>
              <a:gd name="adj" fmla="val 3407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4C59A9-2582-6755-BC6D-C945B12FF8F4}"/>
              </a:ext>
            </a:extLst>
          </p:cNvPr>
          <p:cNvSpPr txBox="1"/>
          <p:nvPr/>
        </p:nvSpPr>
        <p:spPr>
          <a:xfrm>
            <a:off x="2744482" y="3044659"/>
            <a:ext cx="6703035" cy="346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4000"/>
              </a:lnSpc>
              <a:buClr>
                <a:prstClr val="black"/>
              </a:buClr>
              <a:defRPr/>
            </a:pPr>
            <a:r>
              <a:rPr lang="en-US" sz="1600" i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Mock code </a:t>
            </a:r>
            <a:r>
              <a:rPr lang="en-US" sz="1600" i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nếu</a:t>
            </a:r>
            <a:r>
              <a:rPr lang="en-US" sz="1600" i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i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dùng</a:t>
            </a:r>
            <a:r>
              <a:rPr lang="en-US" sz="1600" i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queue:</a:t>
            </a:r>
          </a:p>
        </p:txBody>
      </p:sp>
    </p:spTree>
    <p:extLst>
      <p:ext uri="{BB962C8B-B14F-4D97-AF65-F5344CB8AC3E}">
        <p14:creationId xmlns:p14="http://schemas.microsoft.com/office/powerpoint/2010/main" val="2122037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73FF2-CB87-D7CF-6825-F6F82C213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6ADA665-AEA0-8C71-3B28-E9DBEB3F2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64CAD499-9D50-7A54-2E85-DF87C39ED518}"/>
              </a:ext>
            </a:extLst>
          </p:cNvPr>
          <p:cNvSpPr txBox="1">
            <a:spLocks/>
          </p:cNvSpPr>
          <p:nvPr/>
        </p:nvSpPr>
        <p:spPr>
          <a:xfrm>
            <a:off x="2451859" y="176980"/>
            <a:ext cx="7288282" cy="5675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Part 3: stack, queue </a:t>
            </a:r>
            <a:r>
              <a:rPr lang="en-US" sz="2400" b="1" dirty="0" err="1"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 set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8FA4C1-C5FB-C781-A702-406C3AF36FE6}"/>
              </a:ext>
            </a:extLst>
          </p:cNvPr>
          <p:cNvSpPr txBox="1"/>
          <p:nvPr/>
        </p:nvSpPr>
        <p:spPr>
          <a:xfrm>
            <a:off x="685802" y="860355"/>
            <a:ext cx="10522668" cy="4557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 std::set – Smart Shuffle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Định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nghĩa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Lấy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các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hát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trong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Playback Queue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hiện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tại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(std::list)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shuffle (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nhưng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không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phát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lặp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Cơ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chế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b="1" i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Shuffle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Lấy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hát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trong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hàng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chờ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(list) -&gt; copy sang 1 vector -&gt; shuffle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Cơ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chế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b="1" i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Smart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:Các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hát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trước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phát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được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insert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set (insert con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trỏ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Nếu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insert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được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(con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trỏ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unique,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chưa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được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phát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trước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đây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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phát</a:t>
            </a: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Nếu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không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thể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insert (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không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unique) 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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chuyển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sang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bài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kế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tiếp</a:t>
            </a: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b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Thực</a:t>
            </a:r>
            <a:r>
              <a:rPr lang="en-US" sz="16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b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hiện</a:t>
            </a:r>
            <a:r>
              <a:rPr lang="en-US" sz="16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: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Về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lý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thuyết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sau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khi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shuffle vector 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phải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copy vector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vào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list (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PlaybackQueue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)  </a:t>
            </a:r>
            <a:r>
              <a:rPr lang="en-US" sz="1600" b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Vấn</a:t>
            </a:r>
            <a:r>
              <a:rPr lang="en-US" sz="16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b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đề</a:t>
            </a:r>
            <a:r>
              <a:rPr lang="en-US" sz="16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: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tốn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thời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gian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bộ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nhớ</a:t>
            </a: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L="285750" indent="-285750" algn="just">
              <a:lnSpc>
                <a:spcPct val="114000"/>
              </a:lnSpc>
              <a:buClr>
                <a:prstClr val="black"/>
              </a:buClr>
              <a:buFontTx/>
              <a:buChar char="-"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Ta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sử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dụng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trực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tiếp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vector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làm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hàng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chờ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-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ShuffleQueue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(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ứng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với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khi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b="1" i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Shuffle = ON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)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Không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pop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bài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hát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sau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khi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chơi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xong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–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chỉ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index ++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Loop: Khi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chơi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hết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trong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ShuffleQueue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 shuffle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lại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vector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và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index = 0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Khi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tắt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Shuffle: quay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về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PlaybackQueue</a:t>
            </a: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Khi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bật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Shuffle: clear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ShuffleQueue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(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cũ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), copy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từ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PlaybackQueue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vào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ShuffleQueue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.....</a:t>
            </a:r>
          </a:p>
          <a:p>
            <a:pPr marL="285750" indent="-285750" algn="just">
              <a:lnSpc>
                <a:spcPct val="114000"/>
              </a:lnSpc>
              <a:buClr>
                <a:prstClr val="black"/>
              </a:buClr>
              <a:buFontTx/>
              <a:buChar char="-"/>
              <a:defRPr/>
            </a:pPr>
            <a:r>
              <a:rPr lang="en-US" sz="1600" b="1" i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Smart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: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Chỉ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kiểm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tra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trùng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lặp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(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không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quan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trọng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thứ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tự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) 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sử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dụng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unordered_set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i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O(1)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thay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cho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set </a:t>
            </a:r>
            <a:r>
              <a:rPr lang="en-US" sz="1600" i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O(</a:t>
            </a:r>
            <a:r>
              <a:rPr lang="en-US" sz="1600" i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logn</a:t>
            </a:r>
            <a:r>
              <a:rPr lang="en-US" sz="1600" i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)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C83225-1807-4852-4ABC-E925F55673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005" y="5313310"/>
            <a:ext cx="4345989" cy="114748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119696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4E00C-68D3-DC09-E559-2F30B1316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D807C394-84C0-B608-4B98-C5086B8BA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E1F7071-2449-88AD-7F79-36F84B52D1DF}"/>
              </a:ext>
            </a:extLst>
          </p:cNvPr>
          <p:cNvSpPr txBox="1">
            <a:spLocks/>
          </p:cNvSpPr>
          <p:nvPr/>
        </p:nvSpPr>
        <p:spPr>
          <a:xfrm>
            <a:off x="2451859" y="176980"/>
            <a:ext cx="7288282" cy="5675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Part 3: stack, queue </a:t>
            </a:r>
            <a:r>
              <a:rPr lang="en-US" sz="2400" b="1" dirty="0" err="1"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 set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BA46FC1-B13E-C2CF-DA16-B0760C62EEE1}"/>
              </a:ext>
            </a:extLst>
          </p:cNvPr>
          <p:cNvSpPr txBox="1"/>
          <p:nvPr/>
        </p:nvSpPr>
        <p:spPr>
          <a:xfrm>
            <a:off x="685802" y="744577"/>
            <a:ext cx="10522668" cy="627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 std::set – Smart Shuffle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66C04C-BE3C-D5C2-DD0E-9551A0DD7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761" y="1184154"/>
            <a:ext cx="4494382" cy="2445166"/>
          </a:xfrm>
          <a:prstGeom prst="roundRect">
            <a:avLst>
              <a:gd name="adj" fmla="val 5529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C80F0B-5BDA-D854-EDED-3C858F5207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761" y="3796467"/>
            <a:ext cx="4494382" cy="2884553"/>
          </a:xfrm>
          <a:prstGeom prst="roundRect">
            <a:avLst>
              <a:gd name="adj" fmla="val 3917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08F08B-E438-9A5D-8CAC-CB6CA739B2C6}"/>
              </a:ext>
            </a:extLst>
          </p:cNvPr>
          <p:cNvSpPr txBox="1"/>
          <p:nvPr/>
        </p:nvSpPr>
        <p:spPr>
          <a:xfrm>
            <a:off x="5620102" y="1371928"/>
            <a:ext cx="4469833" cy="346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Tạo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vector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từ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PlaybackQueue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shuffle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7A2E70-15D0-EB0A-EAC6-F2AC21824026}"/>
              </a:ext>
            </a:extLst>
          </p:cNvPr>
          <p:cNvSpPr txBox="1"/>
          <p:nvPr/>
        </p:nvSpPr>
        <p:spPr>
          <a:xfrm>
            <a:off x="5620101" y="4003577"/>
            <a:ext cx="5060468" cy="346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Kiểm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insert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unordered_set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lấy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tiếp</a:t>
            </a: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233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4AC28-D955-C4A7-FE86-57F0F882B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09C72E30-76BF-FE6E-5DCB-658E668FF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7E20C79-4DEE-3E0E-F5E7-53AD5483C6DD}"/>
              </a:ext>
            </a:extLst>
          </p:cNvPr>
          <p:cNvSpPr txBox="1">
            <a:spLocks/>
          </p:cNvSpPr>
          <p:nvPr/>
        </p:nvSpPr>
        <p:spPr>
          <a:xfrm>
            <a:off x="2451859" y="176980"/>
            <a:ext cx="7288282" cy="5675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Part 3: stack, queue </a:t>
            </a:r>
            <a:r>
              <a:rPr lang="en-US" sz="2400" b="1" dirty="0" err="1"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 set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002BDF-EAA2-37D6-8B31-E6B5AF291CF1}"/>
              </a:ext>
            </a:extLst>
          </p:cNvPr>
          <p:cNvSpPr txBox="1"/>
          <p:nvPr/>
        </p:nvSpPr>
        <p:spPr>
          <a:xfrm>
            <a:off x="695228" y="882098"/>
            <a:ext cx="10522668" cy="627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3. std::set – Smart Shuffle Test Cases: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endParaRPr lang="en-US" sz="16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05B473-4561-2176-AC58-DCB4BFE28775}"/>
              </a:ext>
            </a:extLst>
          </p:cNvPr>
          <p:cNvSpPr txBox="1"/>
          <p:nvPr/>
        </p:nvSpPr>
        <p:spPr>
          <a:xfrm>
            <a:off x="551516" y="1790167"/>
            <a:ext cx="10308162" cy="416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Add song </a:t>
            </a:r>
            <a:r>
              <a:rPr lang="en-US" b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khi</a:t>
            </a:r>
            <a:r>
              <a:rPr lang="en-US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Shuffle = ON?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hát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sẽ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phải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được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push_back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ở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cả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ShuffleQueue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(vector)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PlaybackQueue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(list) (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trong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trường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hợp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sau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đó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user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muốn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tắt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Shuffle)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endParaRPr lang="en-US" sz="18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lvl="0" algn="just">
              <a:lnSpc>
                <a:spcPct val="114000"/>
              </a:lnSpc>
              <a:buClr>
                <a:prstClr val="black"/>
              </a:buClr>
              <a:defRPr/>
            </a:pPr>
            <a:r>
              <a:rPr lang="en-US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Play previous </a:t>
            </a:r>
            <a:r>
              <a:rPr lang="en-US" b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khi</a:t>
            </a:r>
            <a:r>
              <a:rPr lang="en-US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Shuffle = ON?</a:t>
            </a:r>
          </a:p>
          <a:p>
            <a:pPr lvl="0" algn="just">
              <a:lnSpc>
                <a:spcPct val="114000"/>
              </a:lnSpc>
              <a:buClr>
                <a:prstClr val="black"/>
              </a:buClr>
              <a:defRPr/>
            </a:pP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Nếu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chỉ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sử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dụng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playbackQueue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có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thể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push_front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hát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hiện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tại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vào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đầu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list,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nhưng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không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thể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không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nên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push_front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vào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đầu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của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shuffleQueue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(vector)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trong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trường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hợp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Shuffle = ON</a:t>
            </a:r>
          </a:p>
          <a:p>
            <a:pPr lvl="0" algn="just">
              <a:lnSpc>
                <a:spcPct val="114000"/>
              </a:lnSpc>
              <a:buClr>
                <a:prstClr val="black"/>
              </a:buClr>
              <a:defRPr/>
            </a:pPr>
            <a:endParaRPr lang="en-US" b="1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lvl="0" indent="-285750" algn="just">
              <a:lnSpc>
                <a:spcPct val="114000"/>
              </a:lnSpc>
              <a:buClr>
                <a:prstClr val="black"/>
              </a:buClr>
              <a:buFont typeface="Wingdings" panose="05000000000000000000" pitchFamily="2" charset="2"/>
              <a:buChar char="à"/>
              <a:defRPr/>
            </a:pP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Tạo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1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hàng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chờ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ưu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tiên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hơn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(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forwardStack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):</a:t>
            </a:r>
          </a:p>
          <a:p>
            <a:pPr marL="285750" lvl="0" indent="-285750" algn="just">
              <a:lnSpc>
                <a:spcPct val="114000"/>
              </a:lnSpc>
              <a:buClr>
                <a:prstClr val="black"/>
              </a:buClr>
              <a:buFontTx/>
              <a:buChar char="-"/>
              <a:defRPr/>
            </a:pP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Ưu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tiên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: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forwardStack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&gt;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playbackQueue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shuffleQueue</a:t>
            </a: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L="285750" indent="-285750" algn="just">
              <a:lnSpc>
                <a:spcPct val="114000"/>
              </a:lnSpc>
              <a:buClr>
                <a:prstClr val="black"/>
              </a:buClr>
              <a:buFontTx/>
              <a:buChar char="-"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Khi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chọn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playPrevious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 push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bài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hát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hiện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tại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vào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forwardStack</a:t>
            </a: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L="285750" indent="-285750" algn="just">
              <a:lnSpc>
                <a:spcPct val="114000"/>
              </a:lnSpc>
              <a:buClr>
                <a:prstClr val="black"/>
              </a:buClr>
              <a:buFontTx/>
              <a:buChar char="-"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Next song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được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pop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từ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forwardStack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khi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hết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thì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lấy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từ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playbackQueue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/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shuffleQueue</a:t>
            </a: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endParaRPr lang="en-US" sz="18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3419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A6D4B-4EF1-42C6-ED58-77E18F124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C9F9571-E2D0-432B-CDE8-138DBC4CB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0C1964-F281-36F6-C614-B5000C515497}"/>
              </a:ext>
            </a:extLst>
          </p:cNvPr>
          <p:cNvSpPr txBox="1">
            <a:spLocks/>
          </p:cNvSpPr>
          <p:nvPr/>
        </p:nvSpPr>
        <p:spPr>
          <a:xfrm>
            <a:off x="2451859" y="176980"/>
            <a:ext cx="7288282" cy="5675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Part 4: Integration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112BC1-8292-302D-D2E7-419712A6AF72}"/>
              </a:ext>
            </a:extLst>
          </p:cNvPr>
          <p:cNvSpPr txBox="1"/>
          <p:nvPr/>
        </p:nvSpPr>
        <p:spPr>
          <a:xfrm>
            <a:off x="695228" y="882098"/>
            <a:ext cx="10522668" cy="346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 </a:t>
            </a:r>
            <a:r>
              <a:rPr lang="en-US" sz="1600" b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MusicPlayer</a:t>
            </a:r>
            <a:r>
              <a:rPr lang="en-US" sz="1600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class: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137C26-4A4E-37D8-C776-7EF074529AD9}"/>
              </a:ext>
            </a:extLst>
          </p:cNvPr>
          <p:cNvSpPr txBox="1"/>
          <p:nvPr/>
        </p:nvSpPr>
        <p:spPr>
          <a:xfrm>
            <a:off x="5270810" y="1366252"/>
            <a:ext cx="6090092" cy="3220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Chứa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class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đã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nêu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: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MusicLibrary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PlaybackQueue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,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shuffleManager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,....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loadedFolders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là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set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để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kiểm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tra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xem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folder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này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đã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được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load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trước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đây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chưa</a:t>
            </a: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Biến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isShuffleEn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chứa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state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của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shuffle mode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Biến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current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lưu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con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trỏ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tới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bài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hát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đang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chơi</a:t>
            </a: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smartPlaylist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là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1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PlaybackQueue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lưu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danh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sách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được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generate BFS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Engine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l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à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public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vì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class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AudioEngine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không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viết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được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hàm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getEngine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()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để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trả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về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.</a:t>
            </a:r>
            <a:endParaRPr lang="en-US" sz="18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2BE3377-C56C-7416-3645-F8AF4A8DF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28" y="1366252"/>
            <a:ext cx="4575582" cy="3148076"/>
          </a:xfrm>
          <a:prstGeom prst="roundRect">
            <a:avLst>
              <a:gd name="adj" fmla="val 3356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883763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148AD-7D33-21FD-0E23-0D955CC7B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D7227E7-58E3-098E-A3AF-3ADB1333F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87B6B4BA-6D35-50DE-AE29-55484DA4E02C}"/>
              </a:ext>
            </a:extLst>
          </p:cNvPr>
          <p:cNvSpPr txBox="1">
            <a:spLocks/>
          </p:cNvSpPr>
          <p:nvPr/>
        </p:nvSpPr>
        <p:spPr>
          <a:xfrm>
            <a:off x="2451859" y="176980"/>
            <a:ext cx="7288282" cy="5675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Part 4: Integration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65689D-0388-5F59-DE48-D1F90269232E}"/>
              </a:ext>
            </a:extLst>
          </p:cNvPr>
          <p:cNvSpPr txBox="1"/>
          <p:nvPr/>
        </p:nvSpPr>
        <p:spPr>
          <a:xfrm>
            <a:off x="834666" y="744577"/>
            <a:ext cx="10522668" cy="2904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1. </a:t>
            </a:r>
            <a:r>
              <a:rPr lang="en-US" b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MusicPlayer</a:t>
            </a:r>
            <a:r>
              <a:rPr lang="en-US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class: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Method </a:t>
            </a:r>
            <a:r>
              <a:rPr lang="en-US" b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đáng</a:t>
            </a:r>
            <a:r>
              <a:rPr lang="en-US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chú</a:t>
            </a:r>
            <a:r>
              <a:rPr lang="en-US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ý: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loadLibrary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()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nhận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folder path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để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load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hát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vào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library (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gọi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hàm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addSong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()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của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MusicLibrary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loadMetadata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() -&gt; fetch metadata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của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bài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hát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dùng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thư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viện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taglib</a:t>
            </a: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addSongToQueue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():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thêm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vào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PlaybackQueue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(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ShuffleQueue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nếu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b="1" i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Shuffle = ON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addArtistToQueue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():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gọi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findByArtist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từ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MusicLibrary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add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vào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queue,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tương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tự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với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addAlbumToQueue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()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playPrevious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() -&gt; current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đưa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vào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forward stack,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chuyển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current sang top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của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stack, pop stack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Char char="-"/>
              <a:tabLst/>
              <a:defRPr/>
            </a:pP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playSong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():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phát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nhạc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dùng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audio engine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9A0A57-ADD9-4819-22EA-745C7D270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4610" y="3487023"/>
            <a:ext cx="4212941" cy="3193997"/>
          </a:xfrm>
          <a:prstGeom prst="roundRect">
            <a:avLst>
              <a:gd name="adj" fmla="val 2023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530720-5377-0A8B-4855-68C7CBF550E6}"/>
              </a:ext>
            </a:extLst>
          </p:cNvPr>
          <p:cNvSpPr txBox="1"/>
          <p:nvPr/>
        </p:nvSpPr>
        <p:spPr>
          <a:xfrm>
            <a:off x="3560107" y="4435433"/>
            <a:ext cx="4469833" cy="346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Hàm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playNext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14206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55EAD-E54D-674C-8853-B79E15476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5990F57-ACED-04FB-F1BF-18953BBE7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675EB4B-5A3C-635E-3429-B51E36E23FC0}"/>
              </a:ext>
            </a:extLst>
          </p:cNvPr>
          <p:cNvSpPr txBox="1">
            <a:spLocks/>
          </p:cNvSpPr>
          <p:nvPr/>
        </p:nvSpPr>
        <p:spPr>
          <a:xfrm>
            <a:off x="2451859" y="176980"/>
            <a:ext cx="7288282" cy="5675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Part 4: Integration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B93441-0561-D28C-5DBA-20509CF70E61}"/>
              </a:ext>
            </a:extLst>
          </p:cNvPr>
          <p:cNvSpPr txBox="1"/>
          <p:nvPr/>
        </p:nvSpPr>
        <p:spPr>
          <a:xfrm>
            <a:off x="560317" y="1063445"/>
            <a:ext cx="5785522" cy="4799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2. Smart Playlist: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Sử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dụng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BFS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để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tìm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kiếm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dựa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vào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các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criteria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b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Cơ</a:t>
            </a:r>
            <a:r>
              <a:rPr lang="en-US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b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chế</a:t>
            </a:r>
            <a:r>
              <a:rPr lang="en-US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: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searchQueue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chứa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các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điều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kiện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tìm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kiếm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(artist, album,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về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sau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có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thể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expand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thành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genre, related artist,...)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Search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các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bài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hát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trong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thư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viện</a:t>
            </a: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Kiểm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tra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điều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kiện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nếu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thỏa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mãn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thì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đưa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vào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list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Đưa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bài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hát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đã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kiểm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tra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vào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visited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Nếu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hết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bài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hát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kiểm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tra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thì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kiểm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tra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điều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kiện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tiếp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theo</a:t>
            </a: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Kết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quả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: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trả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về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PlaybackQueue</a:t>
            </a: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Viết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thêm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hàm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apply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770266-B84D-CD5B-1C65-0D503EEEE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750" y="1063445"/>
            <a:ext cx="5295373" cy="5394088"/>
          </a:xfrm>
          <a:prstGeom prst="roundRect">
            <a:avLst>
              <a:gd name="adj" fmla="val 321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596600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AFA45-D623-75C6-C6E4-B62BB534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A03B69D8-A364-5CAF-3F9C-026B82A76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C7919F5D-E8E2-D599-3E8D-A3F8A68C8720}"/>
              </a:ext>
            </a:extLst>
          </p:cNvPr>
          <p:cNvSpPr txBox="1">
            <a:spLocks/>
          </p:cNvSpPr>
          <p:nvPr/>
        </p:nvSpPr>
        <p:spPr>
          <a:xfrm>
            <a:off x="2451859" y="176980"/>
            <a:ext cx="7288282" cy="5675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PART 5: SONG ENGINE VÀ METADATA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38592E-C203-7DB2-819C-C013C1891A25}"/>
              </a:ext>
            </a:extLst>
          </p:cNvPr>
          <p:cNvSpPr txBox="1"/>
          <p:nvPr/>
        </p:nvSpPr>
        <p:spPr>
          <a:xfrm>
            <a:off x="753359" y="1010378"/>
            <a:ext cx="10685282" cy="3783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Sử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dụng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thư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viện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miniaudio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là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song engine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và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taglib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để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fetch metadata (title, artist, album,..)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từ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bài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hát</a:t>
            </a:r>
            <a:endParaRPr lang="en-US" sz="1800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8841A0-0C60-32CE-95ED-FA3306CFF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59" y="1478732"/>
            <a:ext cx="5023693" cy="17075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1A8ADC2-59BE-57DE-98D1-3DB40137F525}"/>
              </a:ext>
            </a:extLst>
          </p:cNvPr>
          <p:cNvSpPr txBox="1"/>
          <p:nvPr/>
        </p:nvSpPr>
        <p:spPr>
          <a:xfrm>
            <a:off x="6096000" y="1764010"/>
            <a:ext cx="4469833" cy="346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Fetch metadata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F5733C6-2FA4-8A1B-AB9C-E66FFD581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359" y="3365462"/>
            <a:ext cx="5015845" cy="3315558"/>
          </a:xfrm>
          <a:prstGeom prst="roundRect">
            <a:avLst>
              <a:gd name="adj" fmla="val 4525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06D11D6-56B4-32B6-EAC9-AEE70088D789}"/>
              </a:ext>
            </a:extLst>
          </p:cNvPr>
          <p:cNvSpPr txBox="1"/>
          <p:nvPr/>
        </p:nvSpPr>
        <p:spPr>
          <a:xfrm>
            <a:off x="6020626" y="4709565"/>
            <a:ext cx="5340276" cy="627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Hàm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play Audio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Ngoài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còn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có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các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hàm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pause,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getDuration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</a:t>
            </a:r>
            <a:r>
              <a:rPr lang="en-US" sz="16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seekTo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....</a:t>
            </a:r>
          </a:p>
        </p:txBody>
      </p:sp>
    </p:spTree>
    <p:extLst>
      <p:ext uri="{BB962C8B-B14F-4D97-AF65-F5344CB8AC3E}">
        <p14:creationId xmlns:p14="http://schemas.microsoft.com/office/powerpoint/2010/main" val="2123928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2E717-F0AB-AC29-AB88-2C9B64A56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7A26DEA-B34B-D728-81D4-821C7608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32E8CD5-4AE4-67C7-4E27-5AD1BD3DD47B}"/>
              </a:ext>
            </a:extLst>
          </p:cNvPr>
          <p:cNvSpPr txBox="1">
            <a:spLocks/>
          </p:cNvSpPr>
          <p:nvPr/>
        </p:nvSpPr>
        <p:spPr>
          <a:xfrm>
            <a:off x="2451859" y="176980"/>
            <a:ext cx="7288282" cy="5675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PART 6: UI/UX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260C09-F812-D82B-3057-C5BC3F683382}"/>
              </a:ext>
            </a:extLst>
          </p:cNvPr>
          <p:cNvSpPr txBox="1"/>
          <p:nvPr/>
        </p:nvSpPr>
        <p:spPr>
          <a:xfrm>
            <a:off x="753359" y="1010378"/>
            <a:ext cx="10685282" cy="3220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Sử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dụng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thư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viện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ImGUI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and GLFW </a:t>
            </a:r>
            <a:r>
              <a:rPr lang="en-US" sz="1800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cho</a:t>
            </a: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UI/UX design</a:t>
            </a: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sz="18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GL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FW: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Tạo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cửa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sổ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xử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lí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input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ImGUI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: Render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đồ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họa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,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nút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bấm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, tab,....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ImGUI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: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Sử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dụng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các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tab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để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navigate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Tất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cả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bài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hát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khi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được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hiển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thị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sẽ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có 3 option: play, add to queue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và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show artist.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Với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các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bài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hát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trong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queue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sẽ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có option remove from queue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Stack (history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và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forward):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phải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copy item sang 1 vector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mới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có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thể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truy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cập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và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display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trong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UI (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nếu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không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ta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chỉ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có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thể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quan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sát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item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đầu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tiên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và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tổng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item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trong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stack)</a:t>
            </a:r>
          </a:p>
        </p:txBody>
      </p:sp>
    </p:spTree>
    <p:extLst>
      <p:ext uri="{BB962C8B-B14F-4D97-AF65-F5344CB8AC3E}">
        <p14:creationId xmlns:p14="http://schemas.microsoft.com/office/powerpoint/2010/main" val="1056309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ED11D-619E-23D7-73AC-5E11A60CD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CCA4846-7189-552E-D5BA-BC7689A61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9DAB513-5750-C747-1E90-5EC41035C383}"/>
              </a:ext>
            </a:extLst>
          </p:cNvPr>
          <p:cNvSpPr txBox="1">
            <a:spLocks/>
          </p:cNvSpPr>
          <p:nvPr/>
        </p:nvSpPr>
        <p:spPr>
          <a:xfrm>
            <a:off x="2451859" y="176980"/>
            <a:ext cx="7288282" cy="5675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TỔNG KẾT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B2C32B-A6EB-ADF6-8CBA-F85044ADCA0F}"/>
              </a:ext>
            </a:extLst>
          </p:cNvPr>
          <p:cNvSpPr txBox="1"/>
          <p:nvPr/>
        </p:nvSpPr>
        <p:spPr>
          <a:xfrm>
            <a:off x="831098" y="901168"/>
            <a:ext cx="10407957" cy="57798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r>
              <a:rPr lang="vi-VN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Cấu trúc dữ liệu và thay đổi so với </a:t>
            </a:r>
            <a:r>
              <a:rPr lang="vi-VN" b="1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requirements</a:t>
            </a:r>
            <a:r>
              <a:rPr lang="vi-VN" b="1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: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MusicLibrary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là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vector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chứa Song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struct</a:t>
            </a:r>
            <a:endParaRPr lang="en-US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Sử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dụng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unordered_set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để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lưu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unique folder path (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tránh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load 1 folder 2 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lần</a:t>
            </a:r>
            <a:r>
              <a:rPr lang="en-US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)</a:t>
            </a:r>
            <a:endParaRPr lang="vi-VN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Các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container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khác chỉ chứa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pointer</a:t>
            </a:r>
            <a:endParaRPr lang="vi-VN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Queue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chỉ chứa các bài hát chưa được phát, còn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current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là 1 biến con trỏ của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class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MusicPlayer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chứa bài hát đang phát (không có hàm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getCurrentSong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trong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playbackQueue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)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Bài hát được phát sẽ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pop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khỏi li</a:t>
            </a:r>
            <a:r>
              <a:rPr lang="en-US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st.</a:t>
            </a:r>
            <a:endParaRPr lang="vi-VN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Sử dụng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unordered_set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cho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shuffleHistory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thay vì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set</a:t>
            </a:r>
            <a:endParaRPr lang="vi-VN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forwardStack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có ưu tiên cao nhất,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store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các bài hát hiện tại khi muốn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playPrevious</a:t>
            </a:r>
            <a:endParaRPr lang="vi-VN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sử dụng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shuffleQueue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khi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Shuffle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= ON thay cho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playbackQueue</a:t>
            </a:r>
            <a:endParaRPr lang="vi-VN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shuffleQueue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chỉ dịch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index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chứ không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xoá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item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(khác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list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)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addSong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sẽ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push_back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playbackQueue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, nếu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Shuffle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= ON thì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push_back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thêm cả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shuffleQueue</a:t>
            </a:r>
            <a:endParaRPr lang="vi-VN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Dùng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unordered_set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để lưu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unique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folderpath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(không </a:t>
            </a:r>
            <a:r>
              <a:rPr lang="vi-VN" dirty="0" err="1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load</a:t>
            </a:r>
            <a:r>
              <a:rPr lang="vi-VN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2 lần)</a:t>
            </a:r>
          </a:p>
          <a:p>
            <a:pPr marR="0" lvl="0" algn="just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tabLst/>
              <a:defRPr/>
            </a:pPr>
            <a:endParaRPr lang="vi-VN" b="1" dirty="0">
              <a:solidFill>
                <a:prstClr val="black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94614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FBF64-9686-13AA-5AB6-211663A34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1F357534-7B0C-F785-9FA5-913E6C03D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76F022D-E4B1-52B9-EFA6-CB663234E709}"/>
              </a:ext>
            </a:extLst>
          </p:cNvPr>
          <p:cNvSpPr txBox="1">
            <a:spLocks/>
          </p:cNvSpPr>
          <p:nvPr/>
        </p:nvSpPr>
        <p:spPr>
          <a:xfrm>
            <a:off x="2451859" y="176980"/>
            <a:ext cx="7288282" cy="5675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cap="all" spc="150" baseline="0" dirty="0">
                <a:solidFill>
                  <a:schemeClr val="tx1"/>
                </a:solidFill>
                <a:latin typeface="Lato" panose="020F0502020204030203" pitchFamily="34" charset="0"/>
                <a:ea typeface="+mj-ea"/>
                <a:cs typeface="+mj-cs"/>
              </a:defRPr>
            </a:lvl1pPr>
          </a:lstStyle>
          <a:p>
            <a:pPr algn="ctr">
              <a:lnSpc>
                <a:spcPct val="114000"/>
              </a:lnSpc>
            </a:pPr>
            <a:r>
              <a:rPr lang="en-US" sz="2400" b="1" dirty="0">
                <a:ea typeface="Lato" panose="020F0502020204030203" pitchFamily="34" charset="0"/>
                <a:cs typeface="Lato" panose="020F0502020204030203" pitchFamily="34" charset="0"/>
              </a:rPr>
              <a:t>TỔNG KẾT</a:t>
            </a:r>
            <a:endParaRPr lang="en-US" sz="2400" b="1" dirty="0">
              <a:solidFill>
                <a:schemeClr val="accent5">
                  <a:lumMod val="50000"/>
                </a:schemeClr>
              </a:solidFill>
              <a:latin typeface="Consolas" panose="020B0609020204030204" pitchFamily="49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768C78-6741-2ED8-7CED-E51474628F19}"/>
              </a:ext>
            </a:extLst>
          </p:cNvPr>
          <p:cNvSpPr txBox="1"/>
          <p:nvPr/>
        </p:nvSpPr>
        <p:spPr>
          <a:xfrm>
            <a:off x="963430" y="1344127"/>
            <a:ext cx="10265139" cy="3367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vi-V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Future</a:t>
            </a:r>
            <a:r>
              <a:rPr kumimoji="0" lang="vi-V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kumimoji="0" lang="vi-V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Improvements</a:t>
            </a:r>
            <a:r>
              <a:rPr kumimoji="0" lang="vi-V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: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- Sử dụng </a:t>
            </a:r>
            <a:r>
              <a:rPr kumimoji="0" lang="vi-V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deque</a:t>
            </a: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cho </a:t>
            </a:r>
            <a:r>
              <a:rPr kumimoji="0" lang="vi-V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MusicLibrary</a:t>
            </a: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để tránh </a:t>
            </a:r>
            <a:r>
              <a:rPr kumimoji="0" lang="vi-V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reallocate</a:t>
            </a:r>
            <a:r>
              <a:rPr lang="en-US" sz="1600" dirty="0">
                <a:solidFill>
                  <a:prstClr val="black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.</a:t>
            </a:r>
            <a:endParaRPr kumimoji="0" lang="vi-V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- Các </a:t>
            </a:r>
            <a:r>
              <a:rPr kumimoji="0" lang="vi-V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container</a:t>
            </a: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chứa </a:t>
            </a:r>
            <a:r>
              <a:rPr kumimoji="0" lang="vi-V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smart</a:t>
            </a: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kumimoji="0" lang="vi-V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pointer</a:t>
            </a: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thay cho </a:t>
            </a:r>
            <a:r>
              <a:rPr kumimoji="0" lang="vi-V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raw</a:t>
            </a: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kumimoji="0" lang="vi-V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pointer</a:t>
            </a: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(tăng tính tự động và an toàn, tuy nhiên ở đây Song </a:t>
            </a:r>
            <a:r>
              <a:rPr kumimoji="0" lang="vi-V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struct</a:t>
            </a: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ở </a:t>
            </a:r>
            <a:r>
              <a:rPr kumimoji="0" lang="vi-V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database</a:t>
            </a: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sống suốt vòng đời nên chưa cần thiết </a:t>
            </a:r>
            <a:r>
              <a:rPr kumimoji="0" lang="vi-V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implement</a:t>
            </a: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)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- Bỏ </a:t>
            </a:r>
            <a:r>
              <a:rPr kumimoji="0" lang="vi-V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historyStack</a:t>
            </a: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và </a:t>
            </a:r>
            <a:r>
              <a:rPr kumimoji="0" lang="vi-V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forwardStack</a:t>
            </a: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(</a:t>
            </a:r>
            <a:r>
              <a:rPr kumimoji="0" lang="vi-V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manage</a:t>
            </a: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lịch sử và hàng chờ bằng </a:t>
            </a:r>
            <a:r>
              <a:rPr kumimoji="0" lang="vi-V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iterator</a:t>
            </a: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cho </a:t>
            </a:r>
            <a:r>
              <a:rPr kumimoji="0" lang="vi-V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playbackQueue</a:t>
            </a: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hoặc </a:t>
            </a:r>
            <a:r>
              <a:rPr kumimoji="0" lang="vi-V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index</a:t>
            </a: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cho </a:t>
            </a:r>
            <a:r>
              <a:rPr kumimoji="0" lang="vi-V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shuffleQueue</a:t>
            </a: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)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- Thêm </a:t>
            </a:r>
            <a:r>
              <a:rPr kumimoji="0" lang="vi-V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loop</a:t>
            </a: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kumimoji="0" lang="vi-V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function</a:t>
            </a: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khi </a:t>
            </a:r>
            <a:r>
              <a:rPr kumimoji="0" lang="vi-V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Shuffle</a:t>
            </a: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= OFF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- Tính năng chơi toàn bộ thư viện/</a:t>
            </a:r>
            <a:r>
              <a:rPr kumimoji="0" lang="vi-V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random</a:t>
            </a: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1 số lượng bài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- Thêm tính năng dịch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chuyển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 </a:t>
            </a:r>
            <a:r>
              <a:rPr kumimoji="0" lang="vi-V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Wingdings" panose="05000000000000000000" pitchFamily="2" charset="2"/>
              </a:rPr>
              <a:t>thứ tự bài hát ở hàng chờ.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5139397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presentation</Template>
  <TotalTime>4717</TotalTime>
  <Words>2136</Words>
  <Application>Microsoft Office PowerPoint</Application>
  <PresentationFormat>Widescreen</PresentationFormat>
  <Paragraphs>228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Lato</vt:lpstr>
      <vt:lpstr>Consolas</vt:lpstr>
      <vt:lpstr>Calibri</vt:lpstr>
      <vt:lpstr>Arial</vt:lpstr>
      <vt:lpstr>Wingdings</vt:lpstr>
      <vt:lpstr>Custom</vt:lpstr>
      <vt:lpstr>Mini project 01</vt:lpstr>
      <vt:lpstr>Building the Core Engine for an Automotive Music Player Application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CPP. ASSIGNMENT 08</dc:title>
  <dc:creator>Tran Hoang Phuong 20210690</dc:creator>
  <cp:lastModifiedBy>Phuong Tran Hoang</cp:lastModifiedBy>
  <cp:revision>59</cp:revision>
  <dcterms:created xsi:type="dcterms:W3CDTF">2025-12-11T14:35:30Z</dcterms:created>
  <dcterms:modified xsi:type="dcterms:W3CDTF">2026-01-14T10:25:46Z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